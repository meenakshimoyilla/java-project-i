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74" r:id="rId6"/>
    <p:sldId id="278" r:id="rId7"/>
    <p:sldId id="280" r:id="rId8"/>
    <p:sldId id="283" r:id="rId9"/>
    <p:sldId id="286" r:id="rId10"/>
    <p:sldId id="303" r:id="rId11"/>
    <p:sldId id="281" r:id="rId12"/>
    <p:sldId id="295" r:id="rId13"/>
    <p:sldId id="290" r:id="rId14"/>
    <p:sldId id="291" r:id="rId15"/>
    <p:sldId id="268" r:id="rId16"/>
    <p:sldId id="269" r:id="rId17"/>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22" autoAdjust="0"/>
    <p:restoredTop sz="94660"/>
  </p:normalViewPr>
  <p:slideViewPr>
    <p:cSldViewPr>
      <p:cViewPr varScale="1">
        <p:scale>
          <a:sx n="78" d="100"/>
          <a:sy n="78" d="100"/>
        </p:scale>
        <p:origin x="656"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pPr/>
              <a:t>04-04-2026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pPr/>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A07A5-14C6-E585-8655-9D9D52E50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A451EA-1440-E913-BE4A-B614B423C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B861F-0E31-A9FE-3DE3-C88AA9FDC23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B3FD6E-6CD7-73E7-5843-F5D2AC9D0C79}"/>
              </a:ext>
            </a:extLst>
          </p:cNvPr>
          <p:cNvSpPr>
            <a:spLocks noGrp="1"/>
          </p:cNvSpPr>
          <p:nvPr>
            <p:ph type="sldNum" sz="quarter" idx="10"/>
          </p:nvPr>
        </p:nvSpPr>
        <p:spPr/>
        <p:txBody>
          <a:bodyPr/>
          <a:lstStyle/>
          <a:p>
            <a:fld id="{67E471F2-2083-493A-8C9E-53209FFA1EC8}" type="slidenum">
              <a:rPr lang="en-IN" smtClean="0"/>
              <a:pPr/>
              <a:t>7</a:t>
            </a:fld>
            <a:endParaRPr lang="en-IN"/>
          </a:p>
        </p:txBody>
      </p:sp>
    </p:spTree>
    <p:extLst>
      <p:ext uri="{BB962C8B-B14F-4D97-AF65-F5344CB8AC3E}">
        <p14:creationId xmlns:p14="http://schemas.microsoft.com/office/powerpoint/2010/main" val="3766118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D6944-C75D-642A-33EC-861C4C9EE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B92471-DA30-4B37-FCA6-6EF20124D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FE530-0FC2-EC25-4907-8124FE661A5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03AE0AE-6066-70F2-58D0-DE497EDE96FC}"/>
              </a:ext>
            </a:extLst>
          </p:cNvPr>
          <p:cNvSpPr>
            <a:spLocks noGrp="1"/>
          </p:cNvSpPr>
          <p:nvPr>
            <p:ph type="sldNum" sz="quarter" idx="10"/>
          </p:nvPr>
        </p:nvSpPr>
        <p:spPr/>
        <p:txBody>
          <a:bodyPr/>
          <a:lstStyle/>
          <a:p>
            <a:fld id="{67E471F2-2083-493A-8C9E-53209FFA1EC8}" type="slidenum">
              <a:rPr lang="en-IN" smtClean="0"/>
              <a:pPr/>
              <a:t>8</a:t>
            </a:fld>
            <a:endParaRPr lang="en-IN"/>
          </a:p>
        </p:txBody>
      </p:sp>
    </p:spTree>
    <p:extLst>
      <p:ext uri="{BB962C8B-B14F-4D97-AF65-F5344CB8AC3E}">
        <p14:creationId xmlns:p14="http://schemas.microsoft.com/office/powerpoint/2010/main" val="3637059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39B1-A475-4CBB-3C79-9D26E5A8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C7ED2-D36F-F380-B914-E293551BC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291147-730F-8489-F314-EBBEE6FC15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B461C2B-CF90-5661-FD6B-4743F3CA884B}"/>
              </a:ext>
            </a:extLst>
          </p:cNvPr>
          <p:cNvSpPr>
            <a:spLocks noGrp="1"/>
          </p:cNvSpPr>
          <p:nvPr>
            <p:ph type="sldNum" sz="quarter" idx="10"/>
          </p:nvPr>
        </p:nvSpPr>
        <p:spPr/>
        <p:txBody>
          <a:bodyPr/>
          <a:lstStyle/>
          <a:p>
            <a:fld id="{67E471F2-2083-493A-8C9E-53209FFA1EC8}" type="slidenum">
              <a:rPr lang="en-IN" smtClean="0"/>
              <a:pPr/>
              <a:t>9</a:t>
            </a:fld>
            <a:endParaRPr lang="en-IN"/>
          </a:p>
        </p:txBody>
      </p:sp>
    </p:spTree>
    <p:extLst>
      <p:ext uri="{BB962C8B-B14F-4D97-AF65-F5344CB8AC3E}">
        <p14:creationId xmlns:p14="http://schemas.microsoft.com/office/powerpoint/2010/main" val="1688220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ED72B-5E5D-1098-CF27-787FCFF08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82C2B-6483-9537-A8B5-14DC2519C7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C15B68-187E-A8BD-7796-A813C977AC5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6624AA-A2BD-88EE-2A75-107A1D66ED9B}"/>
              </a:ext>
            </a:extLst>
          </p:cNvPr>
          <p:cNvSpPr>
            <a:spLocks noGrp="1"/>
          </p:cNvSpPr>
          <p:nvPr>
            <p:ph type="sldNum" sz="quarter" idx="10"/>
          </p:nvPr>
        </p:nvSpPr>
        <p:spPr/>
        <p:txBody>
          <a:bodyPr/>
          <a:lstStyle/>
          <a:p>
            <a:fld id="{67E471F2-2083-493A-8C9E-53209FFA1EC8}" type="slidenum">
              <a:rPr lang="en-IN" smtClean="0"/>
              <a:pPr/>
              <a:t>10</a:t>
            </a:fld>
            <a:endParaRPr lang="en-IN"/>
          </a:p>
        </p:txBody>
      </p:sp>
    </p:spTree>
    <p:extLst>
      <p:ext uri="{BB962C8B-B14F-4D97-AF65-F5344CB8AC3E}">
        <p14:creationId xmlns:p14="http://schemas.microsoft.com/office/powerpoint/2010/main" val="1577656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CE3C7-4CAC-83C5-06C3-42A79AAC3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C8F73F-5430-C4C7-24B7-978CB7B2C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D4E0F-8063-6714-0B2B-C4C7BFB3BB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220EE7-BED2-805A-A166-2B514D3FD98E}"/>
              </a:ext>
            </a:extLst>
          </p:cNvPr>
          <p:cNvSpPr>
            <a:spLocks noGrp="1"/>
          </p:cNvSpPr>
          <p:nvPr>
            <p:ph type="sldNum" sz="quarter" idx="10"/>
          </p:nvPr>
        </p:nvSpPr>
        <p:spPr/>
        <p:txBody>
          <a:bodyPr/>
          <a:lstStyle/>
          <a:p>
            <a:fld id="{67E471F2-2083-493A-8C9E-53209FFA1EC8}" type="slidenum">
              <a:rPr lang="en-IN" smtClean="0"/>
              <a:pPr/>
              <a:t>11</a:t>
            </a:fld>
            <a:endParaRPr lang="en-IN"/>
          </a:p>
        </p:txBody>
      </p:sp>
    </p:spTree>
    <p:extLst>
      <p:ext uri="{BB962C8B-B14F-4D97-AF65-F5344CB8AC3E}">
        <p14:creationId xmlns:p14="http://schemas.microsoft.com/office/powerpoint/2010/main" val="340130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0228F-58ED-A8A9-83F6-417BF9E8F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92AC-450B-ED20-CC0E-863B8D3FB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67FF-E9BF-B02A-BB9A-F8D92EE150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48B14A-9DA2-06A7-BD4E-CC42A4DF4C5A}"/>
              </a:ext>
            </a:extLst>
          </p:cNvPr>
          <p:cNvSpPr>
            <a:spLocks noGrp="1"/>
          </p:cNvSpPr>
          <p:nvPr>
            <p:ph type="sldNum" sz="quarter" idx="10"/>
          </p:nvPr>
        </p:nvSpPr>
        <p:spPr/>
        <p:txBody>
          <a:bodyPr/>
          <a:lstStyle/>
          <a:p>
            <a:fld id="{67E471F2-2083-493A-8C9E-53209FFA1EC8}" type="slidenum">
              <a:rPr lang="en-IN" smtClean="0"/>
              <a:pPr/>
              <a:t>12</a:t>
            </a:fld>
            <a:endParaRPr lang="en-IN"/>
          </a:p>
        </p:txBody>
      </p:sp>
    </p:spTree>
    <p:extLst>
      <p:ext uri="{BB962C8B-B14F-4D97-AF65-F5344CB8AC3E}">
        <p14:creationId xmlns:p14="http://schemas.microsoft.com/office/powerpoint/2010/main" val="918734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4/4/2026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4/4/2026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hyperlink" Target="https://docs.oracle.com/javase" TargetMode="External"/><Relationship Id="rId7" Type="http://schemas.openxmlformats.org/officeDocument/2006/relationships/image" Target="../media/image8.png"/><Relationship Id="rId2" Type="http://schemas.openxmlformats.org/officeDocument/2006/relationships/hyperlink" Target="https://docs.oracle.com/"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hyperlink" Target="https://www.w3schools.com/java/"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Java Programming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Final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4089581"/>
          </a:xfrm>
          <a:prstGeom prst="rect">
            <a:avLst/>
          </a:prstGeom>
        </p:spPr>
        <p:txBody>
          <a:bodyPr vert="horz" wrap="square" lIns="0" tIns="16510" rIns="0" bIns="0" rtlCol="0">
            <a:spAutoFit/>
          </a:bodyPr>
          <a:lstStyle/>
          <a:p>
            <a:pPr algn="ctr">
              <a:lnSpc>
                <a:spcPct val="100000"/>
              </a:lnSpc>
              <a:spcBef>
                <a:spcPts val="130"/>
              </a:spcBef>
            </a:pPr>
            <a:r>
              <a:rPr lang="en-IN" sz="2400" dirty="0"/>
              <a:t>Course Registration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V.V. Lasya (24B11DS217)</a:t>
            </a:r>
          </a:p>
          <a:p>
            <a:pPr marL="3810" algn="ctr">
              <a:lnSpc>
                <a:spcPct val="100000"/>
              </a:lnSpc>
              <a:spcBef>
                <a:spcPts val="750"/>
              </a:spcBef>
            </a:pPr>
            <a:r>
              <a:rPr lang="en-IN" sz="2000" spc="-10" dirty="0" err="1">
                <a:solidFill>
                  <a:srgbClr val="17375E"/>
                </a:solidFill>
                <a:latin typeface="Times New Roman" panose="02020603050405020304" pitchFamily="18" charset="0"/>
                <a:cs typeface="Times New Roman" panose="02020603050405020304" pitchFamily="18" charset="0"/>
              </a:rPr>
              <a:t>N.MadhuSree</a:t>
            </a:r>
            <a:r>
              <a:rPr lang="en-IN" sz="2000" spc="-10" dirty="0">
                <a:solidFill>
                  <a:srgbClr val="17375E"/>
                </a:solidFill>
                <a:latin typeface="Times New Roman" panose="02020603050405020304" pitchFamily="18" charset="0"/>
                <a:cs typeface="Times New Roman" panose="02020603050405020304" pitchFamily="18" charset="0"/>
              </a:rPr>
              <a:t> (24B11DS144)</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K. Naga Dhanalakshmi (24B11DS099)</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M. Meenakshi (24B11DS129)</a:t>
            </a:r>
          </a:p>
          <a:p>
            <a:pPr marL="3810" algn="ctr">
              <a:lnSpc>
                <a:spcPct val="100000"/>
              </a:lnSpc>
              <a:spcBef>
                <a:spcPts val="750"/>
              </a:spcBef>
            </a:pPr>
            <a:endParaRPr lang="en-IN" sz="1650" spc="-10" dirty="0">
              <a:latin typeface="Times New Roman" panose="02020603050405020304" pitchFamily="18" charset="0"/>
              <a:cs typeface="Times New Roman" panose="02020603050405020304" pitchFamily="18" charset="0"/>
            </a:endParaRPr>
          </a:p>
          <a:p>
            <a:pPr marL="1270" algn="ctr">
              <a:lnSpc>
                <a:spcPct val="100000"/>
              </a:lnSpc>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Data Science</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60408" y="1191211"/>
            <a:ext cx="3770980" cy="5495094"/>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Database Design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System Design</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System Implementation</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Future Enhancements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References</a:t>
            </a:r>
          </a:p>
          <a:p>
            <a:pPr marL="389890" indent="-377190">
              <a:spcBef>
                <a:spcPts val="2060"/>
              </a:spcBef>
              <a:buFontTx/>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1752599" y="49274"/>
            <a:ext cx="7190509" cy="2062872"/>
          </a:xfrm>
          <a:prstGeom prst="rect">
            <a:avLst/>
          </a:prstGeom>
          <a:noFill/>
        </p:spPr>
        <p:txBody>
          <a:bodyPr wrap="square" rtlCol="0">
            <a:spAutoFit/>
          </a:bodyPr>
          <a:lstStyle/>
          <a:p>
            <a:pPr algn="l">
              <a:lnSpc>
                <a:spcPct val="150000"/>
              </a:lnSpc>
            </a:pPr>
            <a:br>
              <a:rPr lang="en-US" sz="2200" dirty="0">
                <a:latin typeface="Times New Roman" pitchFamily="18" charset="0"/>
                <a:cs typeface="Times New Roman" pitchFamily="18" charset="0"/>
              </a:rPr>
            </a:br>
            <a:br>
              <a:rPr lang="en-US" sz="2200" dirty="0">
                <a:latin typeface="Times New Roman" pitchFamily="18" charset="0"/>
                <a:cs typeface="Times New Roman" pitchFamily="18" charset="0"/>
              </a:rPr>
            </a:br>
            <a:br>
              <a:rPr lang="en-US" sz="2200" dirty="0">
                <a:latin typeface="Times New Roman" pitchFamily="18" charset="0"/>
                <a:cs typeface="Times New Roman" pitchFamily="18" charset="0"/>
              </a:rPr>
            </a:br>
            <a:endParaRPr lang="en-IN" sz="2200" dirty="0">
              <a:latin typeface="Times New Roman" pitchFamily="18" charset="0"/>
              <a:cs typeface="Times New Roman" pitchFamily="18" charset="0"/>
            </a:endParaRPr>
          </a:p>
        </p:txBody>
      </p:sp>
      <p:sp>
        <p:nvSpPr>
          <p:cNvPr id="14" name="Rectangle 5">
            <a:extLst>
              <a:ext uri="{FF2B5EF4-FFF2-40B4-BE49-F238E27FC236}">
                <a16:creationId xmlns:a16="http://schemas.microsoft.com/office/drawing/2014/main" id="{5875D3C8-B29C-2B9A-BBB6-2F400593B32F}"/>
              </a:ext>
            </a:extLst>
          </p:cNvPr>
          <p:cNvSpPr>
            <a:spLocks noChangeArrowheads="1"/>
          </p:cNvSpPr>
          <p:nvPr/>
        </p:nvSpPr>
        <p:spPr bwMode="auto">
          <a:xfrm>
            <a:off x="914401" y="1193704"/>
            <a:ext cx="8305800" cy="2844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MERN Blog Application is a full-stack web application developed using MongoDB, Express.js, React.js, and Node.js. It provides a platform for users to register, log in, and manage blog posts through features such as creating, viewing, updating, and deleting content.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application also includes interactive functionalities like likes, dislikes, and view counts to improve user engagement. It ensures secure user authentication and allows users to manage their own content efficiently.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demonstrates the practical implementation of CRUD operations, RESTful APIs, and modern web development techniques, providing a scalable and user-friendly blogging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3" name="Rectangle 1">
            <a:extLst>
              <a:ext uri="{FF2B5EF4-FFF2-40B4-BE49-F238E27FC236}">
                <a16:creationId xmlns:a16="http://schemas.microsoft.com/office/drawing/2014/main" id="{3A63BAD0-2369-4922-79DD-900CD8A9E369}"/>
              </a:ext>
            </a:extLst>
          </p:cNvPr>
          <p:cNvSpPr>
            <a:spLocks noChangeArrowheads="1"/>
          </p:cNvSpPr>
          <p:nvPr/>
        </p:nvSpPr>
        <p:spPr bwMode="auto">
          <a:xfrm>
            <a:off x="914400" y="1652222"/>
            <a:ext cx="83058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MERN Blog Application is a full-stack web application developed using the MERN stack, which includes MongoDB, Express.js, React.js, and Node.js. It is designed to provide a simple and efficient platform for users to create, manage, and interact with blog content online.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this application, users can register and log in securely, create new blog posts, view existing posts, update their content, and delete blogs when required. The system also includes features such as likes, dislikes, and view counts to enhance user engagement and provide a more interactive experience.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frontend of the application is built using React.js, which ensures a responsive and dynamic user interface. The backend is developed using Node.js and Express.js to handle server-side operations and API requests, while MongoDB is used as the database to store user and blog information.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MERN Blog Application demonstrates the implementation of modern web development concepts such as CRUD operations, user authentication, and full-stack integration, making it suitable for real-world blogging platforms.</a:t>
            </a:r>
          </a:p>
        </p:txBody>
      </p:sp>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17781"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Rectangle 1">
            <a:extLst>
              <a:ext uri="{FF2B5EF4-FFF2-40B4-BE49-F238E27FC236}">
                <a16:creationId xmlns:a16="http://schemas.microsoft.com/office/drawing/2014/main" id="{BF0EFB7E-4620-A64B-11FE-C21C923399DB}"/>
              </a:ext>
            </a:extLst>
          </p:cNvPr>
          <p:cNvSpPr>
            <a:spLocks noChangeArrowheads="1"/>
          </p:cNvSpPr>
          <p:nvPr/>
        </p:nvSpPr>
        <p:spPr bwMode="auto">
          <a:xfrm>
            <a:off x="1066800" y="1788237"/>
            <a:ext cx="80010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solidFill>
                  <a:schemeClr val="tx1"/>
                </a:solidFill>
                <a:latin typeface="Times New Roman" panose="02020603050405020304" pitchFamily="18" charset="0"/>
                <a:cs typeface="Times New Roman" panose="02020603050405020304" pitchFamily="18" charset="0"/>
              </a:rPr>
              <a:t>FUNCTIONAL REQUIREMENTS: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allows authenticated users to create new blog posts by providing a title and content.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provides functionality to update existing blog posts whenever required.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Authorized users can delete their blog posts with proper confirmation.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supports viewing all blog posts along with details such as likes, dislikes, and view counts.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allows users to like or dislike blog posts, ensuring only one action per user.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supports user profile management, allowing users to view and manage their personal information.</a:t>
            </a:r>
          </a:p>
        </p:txBody>
      </p:sp>
    </p:spTree>
    <p:extLst>
      <p:ext uri="{BB962C8B-B14F-4D97-AF65-F5344CB8AC3E}">
        <p14:creationId xmlns:p14="http://schemas.microsoft.com/office/powerpoint/2010/main" val="4273835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810000" y="342558"/>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SYSTEM ANALYSIS</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Rectangle 1">
            <a:extLst>
              <a:ext uri="{FF2B5EF4-FFF2-40B4-BE49-F238E27FC236}">
                <a16:creationId xmlns:a16="http://schemas.microsoft.com/office/drawing/2014/main" id="{7956CEBF-4131-907E-3D41-8D46B5A4FF6A}"/>
              </a:ext>
            </a:extLst>
          </p:cNvPr>
          <p:cNvSpPr>
            <a:spLocks noChangeArrowheads="1"/>
          </p:cNvSpPr>
          <p:nvPr/>
        </p:nvSpPr>
        <p:spPr bwMode="auto">
          <a:xfrm>
            <a:off x="765128" y="1354093"/>
            <a:ext cx="9064671"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HARDWARE REQUIREMENTS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Processor: Intel i3 or above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RAM: Minimum 4 GB</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Hard Disk: At least 20 GB free space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Monitor: Standard display screen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Input Devices: Keyboard and Mouse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SOFTWARE REQUIREMENTS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Operating System: Windows 10/11, macOS, or Linux</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Frontend: React.js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Backend: Node.js with Express.js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Database: MongoDB</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IDE/Code Editor: Visual Studio Code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Browser: Google Chrome / Mozilla Firefox / Microsoft Edge</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Package Manager: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npm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(Node Package Manager)</a:t>
            </a:r>
          </a:p>
        </p:txBody>
      </p:sp>
    </p:spTree>
    <p:extLst>
      <p:ext uri="{BB962C8B-B14F-4D97-AF65-F5344CB8AC3E}">
        <p14:creationId xmlns:p14="http://schemas.microsoft.com/office/powerpoint/2010/main" val="22720524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3C03A-992A-CEAD-5FB8-686527824E66}"/>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EA7C8F04-95CA-C1E0-BFA2-4BFACD89E6B8}"/>
              </a:ext>
            </a:extLst>
          </p:cNvPr>
          <p:cNvGrpSpPr/>
          <p:nvPr/>
        </p:nvGrpSpPr>
        <p:grpSpPr>
          <a:xfrm>
            <a:off x="2590800" y="152400"/>
            <a:ext cx="5103904" cy="1198311"/>
            <a:chOff x="2648188" y="47148"/>
            <a:chExt cx="5103904" cy="1198311"/>
          </a:xfrm>
        </p:grpSpPr>
        <p:pic>
          <p:nvPicPr>
            <p:cNvPr id="6" name="object 4">
              <a:extLst>
                <a:ext uri="{FF2B5EF4-FFF2-40B4-BE49-F238E27FC236}">
                  <a16:creationId xmlns:a16="http://schemas.microsoft.com/office/drawing/2014/main" id="{B989C992-155F-6A68-0B08-3B39FFBAA62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031E1F9-FB82-922E-C796-97077F94E70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8EAA2CC3-9696-811E-B5BE-5C184817770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F65D09F8-C17C-F03E-88B8-4942A39F20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5154CDE-FB1D-92DB-77E9-9CDAB77B8835}"/>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5E89CD20-90CB-480C-A4EB-EC7405BED441}"/>
              </a:ext>
            </a:extLst>
          </p:cNvPr>
          <p:cNvPicPr/>
          <p:nvPr/>
        </p:nvPicPr>
        <p:blipFill>
          <a:blip r:embed="rId6" cstate="print"/>
          <a:stretch>
            <a:fillRect/>
          </a:stretch>
        </p:blipFill>
        <p:spPr>
          <a:xfrm>
            <a:off x="290750" y="204311"/>
            <a:ext cx="1163002" cy="424338"/>
          </a:xfrm>
          <a:prstGeom prst="rect">
            <a:avLst/>
          </a:prstGeom>
        </p:spPr>
      </p:pic>
      <p:sp>
        <p:nvSpPr>
          <p:cNvPr id="2" name="Rectangle 1">
            <a:extLst>
              <a:ext uri="{FF2B5EF4-FFF2-40B4-BE49-F238E27FC236}">
                <a16:creationId xmlns:a16="http://schemas.microsoft.com/office/drawing/2014/main" id="{BA96FFD3-21FF-E619-9975-4B9BDCB7FAB3}"/>
              </a:ext>
            </a:extLst>
          </p:cNvPr>
          <p:cNvSpPr>
            <a:spLocks noChangeArrowheads="1"/>
          </p:cNvSpPr>
          <p:nvPr/>
        </p:nvSpPr>
        <p:spPr bwMode="auto">
          <a:xfrm>
            <a:off x="990600" y="1670460"/>
            <a:ext cx="850751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DESIGN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database for the MERN Blog Application is designed using MongoDB, a NoSQL database that stores data in the form of JSON-like documents. Instead of traditional tables, MongoDB uses collections, and each record is stored as a document (BSON format).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main objective of the database design is to store user and blog information efficiently while maintaining data consistency and avoiding redundancy.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consists of the following collections: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Collection: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Stores information about users such as name, email, username, password, and user ID.</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Blogs Collection: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Stores blog posts created by users, including fields such as title, content, user ID (reference), likes, dislikes, and view counts.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design ensures efficient data storage, quick retrieval of blog posts, and proper association between users and their respective blogs.</a:t>
            </a:r>
          </a:p>
        </p:txBody>
      </p:sp>
    </p:spTree>
    <p:extLst>
      <p:ext uri="{BB962C8B-B14F-4D97-AF65-F5344CB8AC3E}">
        <p14:creationId xmlns:p14="http://schemas.microsoft.com/office/powerpoint/2010/main" val="891828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440B4-B462-F22D-0950-B6710CF9EA51}"/>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4A9BBA5-9A38-1657-0653-14EC0D3B9CE4}"/>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6656BA03-D3A4-CDEA-202C-38C81F635B7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4C109C39-054A-E81F-70B9-386F94A44C3C}"/>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1533A0EA-DA31-1EB6-ADF3-083AD01A4E8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E8E014C-4F7F-C10B-D153-7578A6AE564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5ECF7B6-4D35-5116-1FBA-A710C58C5A84}"/>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98FBF8DD-4922-6047-5E1A-EAFBB22DFB9B}"/>
              </a:ext>
            </a:extLst>
          </p:cNvPr>
          <p:cNvPicPr/>
          <p:nvPr/>
        </p:nvPicPr>
        <p:blipFill>
          <a:blip r:embed="rId6"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36FE3A23-6F7A-9CD3-0012-E9E7C7331AAD}"/>
              </a:ext>
            </a:extLst>
          </p:cNvPr>
          <p:cNvSpPr txBox="1"/>
          <p:nvPr/>
        </p:nvSpPr>
        <p:spPr>
          <a:xfrm>
            <a:off x="290750" y="1353220"/>
            <a:ext cx="45852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Database Tables:</a:t>
            </a:r>
          </a:p>
        </p:txBody>
      </p:sp>
      <p:sp>
        <p:nvSpPr>
          <p:cNvPr id="12" name="TextBox 11">
            <a:extLst>
              <a:ext uri="{FF2B5EF4-FFF2-40B4-BE49-F238E27FC236}">
                <a16:creationId xmlns:a16="http://schemas.microsoft.com/office/drawing/2014/main" id="{DB0D226A-4905-9A23-644C-CE3991C38936}"/>
              </a:ext>
            </a:extLst>
          </p:cNvPr>
          <p:cNvSpPr txBox="1"/>
          <p:nvPr/>
        </p:nvSpPr>
        <p:spPr>
          <a:xfrm>
            <a:off x="533400" y="2005523"/>
            <a:ext cx="8366948" cy="646331"/>
          </a:xfrm>
          <a:prstGeom prst="rect">
            <a:avLst/>
          </a:prstGeom>
          <a:noFill/>
        </p:spPr>
        <p:txBody>
          <a:bodyPr wrap="square">
            <a:spAutoFit/>
          </a:bodyPr>
          <a:lstStyle/>
          <a:p>
            <a:r>
              <a:rPr lang="en-US" b="1" dirty="0"/>
              <a:t>User Collection :</a:t>
            </a:r>
            <a:r>
              <a:rPr lang="en-US" dirty="0"/>
              <a:t>		</a:t>
            </a:r>
          </a:p>
          <a:p>
            <a:r>
              <a:rPr lang="en-US" dirty="0"/>
              <a:t>	Stores information about users of the system. .</a:t>
            </a:r>
            <a:endParaRPr lang="en-IN" b="1" dirty="0"/>
          </a:p>
        </p:txBody>
      </p:sp>
      <p:graphicFrame>
        <p:nvGraphicFramePr>
          <p:cNvPr id="16" name="Table 15"/>
          <p:cNvGraphicFramePr>
            <a:graphicFrameLocks noGrp="1"/>
          </p:cNvGraphicFramePr>
          <p:nvPr/>
        </p:nvGraphicFramePr>
        <p:xfrm>
          <a:off x="1676400" y="3581400"/>
          <a:ext cx="6477000" cy="381000"/>
        </p:xfrm>
        <a:graphic>
          <a:graphicData uri="http://schemas.openxmlformats.org/drawingml/2006/table">
            <a:tbl>
              <a:tblPr/>
              <a:tblGrid>
                <a:gridCol w="6477000">
                  <a:extLst>
                    <a:ext uri="{9D8B030D-6E8A-4147-A177-3AD203B41FA5}">
                      <a16:colId xmlns:a16="http://schemas.microsoft.com/office/drawing/2014/main" val="20000"/>
                    </a:ext>
                  </a:extLst>
                </a:gridCol>
              </a:tblGrid>
              <a:tr h="381000">
                <a:tc>
                  <a:txBody>
                    <a:bodyPr/>
                    <a:lstStyle/>
                    <a:p>
                      <a:endParaRPr lang="en-US"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pic>
        <p:nvPicPr>
          <p:cNvPr id="4" name="Picture 3">
            <a:extLst>
              <a:ext uri="{FF2B5EF4-FFF2-40B4-BE49-F238E27FC236}">
                <a16:creationId xmlns:a16="http://schemas.microsoft.com/office/drawing/2014/main" id="{1E07F982-EF28-38A1-4EE4-2ADC42128C5B}"/>
              </a:ext>
            </a:extLst>
          </p:cNvPr>
          <p:cNvPicPr>
            <a:picLocks noChangeAspect="1"/>
          </p:cNvPicPr>
          <p:nvPr/>
        </p:nvPicPr>
        <p:blipFill>
          <a:blip r:embed="rId7"/>
          <a:stretch>
            <a:fillRect/>
          </a:stretch>
        </p:blipFill>
        <p:spPr>
          <a:xfrm>
            <a:off x="914400" y="2721526"/>
            <a:ext cx="8229599" cy="4587161"/>
          </a:xfrm>
          <a:prstGeom prst="rect">
            <a:avLst/>
          </a:prstGeom>
        </p:spPr>
      </p:pic>
    </p:spTree>
    <p:extLst>
      <p:ext uri="{BB962C8B-B14F-4D97-AF65-F5344CB8AC3E}">
        <p14:creationId xmlns:p14="http://schemas.microsoft.com/office/powerpoint/2010/main" val="256587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0787-E769-8B37-025D-041FF5E1BF90}"/>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3476D6BF-13C6-C6B0-36DF-F1559314FAB1}"/>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70BE4208-2AED-46E3-654C-0DE2B83F7F41}"/>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994CB99-6727-2B94-DE57-F503E8F8FB69}"/>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2851F0DB-95C6-22C8-2435-DA8595A2F763}"/>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7689328C-CC9D-EEE6-AEF0-27195081DA2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ECEAD52A-D6BA-B4AE-C1E4-8A54366273AF}"/>
              </a:ext>
            </a:extLst>
          </p:cNvPr>
          <p:cNvSpPr txBox="1">
            <a:spLocks noGrp="1"/>
          </p:cNvSpPr>
          <p:nvPr>
            <p:ph type="title"/>
          </p:nvPr>
        </p:nvSpPr>
        <p:spPr>
          <a:xfrm>
            <a:off x="4045472" y="425171"/>
            <a:ext cx="23031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Database Design</a:t>
            </a:r>
          </a:p>
        </p:txBody>
      </p:sp>
      <p:pic>
        <p:nvPicPr>
          <p:cNvPr id="11" name="object 3">
            <a:extLst>
              <a:ext uri="{FF2B5EF4-FFF2-40B4-BE49-F238E27FC236}">
                <a16:creationId xmlns:a16="http://schemas.microsoft.com/office/drawing/2014/main" id="{FAB0F939-F8B0-7014-4713-2E3FA82313DF}"/>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2B7D6DA8-89F8-4CB4-20B5-36719C763BE0}"/>
              </a:ext>
            </a:extLst>
          </p:cNvPr>
          <p:cNvSpPr txBox="1"/>
          <p:nvPr/>
        </p:nvSpPr>
        <p:spPr>
          <a:xfrm>
            <a:off x="609600" y="1741715"/>
            <a:ext cx="8449892" cy="646331"/>
          </a:xfrm>
          <a:prstGeom prst="rect">
            <a:avLst/>
          </a:prstGeom>
          <a:noFill/>
        </p:spPr>
        <p:txBody>
          <a:bodyPr wrap="square">
            <a:spAutoFit/>
          </a:bodyPr>
          <a:lstStyle/>
          <a:p>
            <a:r>
              <a:rPr lang="en-US" b="1" dirty="0"/>
              <a:t>Blog Collection :</a:t>
            </a:r>
          </a:p>
          <a:p>
            <a:r>
              <a:rPr lang="en-US" dirty="0"/>
              <a:t>	Stores blog posts created by users.</a:t>
            </a:r>
            <a:endParaRPr lang="en-IN" b="1" dirty="0"/>
          </a:p>
        </p:txBody>
      </p:sp>
      <p:pic>
        <p:nvPicPr>
          <p:cNvPr id="1028" name="Picture 4"/>
          <p:cNvPicPr>
            <a:picLocks noChangeAspect="1" noChangeArrowheads="1"/>
          </p:cNvPicPr>
          <p:nvPr/>
        </p:nvPicPr>
        <p:blipFill>
          <a:blip r:embed="rId7"/>
          <a:srcRect/>
          <a:stretch>
            <a:fillRect/>
          </a:stretch>
        </p:blipFill>
        <p:spPr bwMode="auto">
          <a:xfrm>
            <a:off x="1447800" y="3048000"/>
            <a:ext cx="7086600" cy="3429000"/>
          </a:xfrm>
          <a:prstGeom prst="rect">
            <a:avLst/>
          </a:prstGeom>
          <a:noFill/>
          <a:ln w="9525">
            <a:noFill/>
            <a:miter lim="800000"/>
            <a:headEnd/>
            <a:tailEnd/>
          </a:ln>
          <a:effectLst/>
        </p:spPr>
      </p:pic>
      <p:pic>
        <p:nvPicPr>
          <p:cNvPr id="4" name="Picture 3">
            <a:extLst>
              <a:ext uri="{FF2B5EF4-FFF2-40B4-BE49-F238E27FC236}">
                <a16:creationId xmlns:a16="http://schemas.microsoft.com/office/drawing/2014/main" id="{9B39FAA5-FC72-A257-DBD0-2AEC71FBA37A}"/>
              </a:ext>
            </a:extLst>
          </p:cNvPr>
          <p:cNvPicPr>
            <a:picLocks noChangeAspect="1"/>
          </p:cNvPicPr>
          <p:nvPr/>
        </p:nvPicPr>
        <p:blipFill>
          <a:blip r:embed="rId8"/>
          <a:stretch>
            <a:fillRect/>
          </a:stretch>
        </p:blipFill>
        <p:spPr>
          <a:xfrm>
            <a:off x="1218668" y="2743200"/>
            <a:ext cx="7621064" cy="4038600"/>
          </a:xfrm>
          <a:prstGeom prst="rect">
            <a:avLst/>
          </a:prstGeom>
        </p:spPr>
      </p:pic>
    </p:spTree>
    <p:extLst>
      <p:ext uri="{BB962C8B-B14F-4D97-AF65-F5344CB8AC3E}">
        <p14:creationId xmlns:p14="http://schemas.microsoft.com/office/powerpoint/2010/main" val="1327093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DEB52-DED6-1ACF-7DB3-B229C342F6D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44B16D6-9A86-9719-F816-32DE90069241}"/>
              </a:ext>
            </a:extLst>
          </p:cNvPr>
          <p:cNvSpPr txBox="1"/>
          <p:nvPr/>
        </p:nvSpPr>
        <p:spPr>
          <a:xfrm>
            <a:off x="872251" y="1037173"/>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91B05243-C20E-02D3-EA1C-4B12AA3B3AE7}"/>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8655CF88-59E0-7BE1-809E-3F9AD228FA63}"/>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317AA471-A560-BA7C-5287-E48B8C322738}"/>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B09A2186-FE1B-F1C0-5568-A53177B7E44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AB204B87-1155-0DF7-EE9F-80FF0972F180}"/>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6F474204-A7F7-5104-BA0D-A2F443643265}"/>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DESIGN</a:t>
            </a:r>
          </a:p>
        </p:txBody>
      </p:sp>
      <p:pic>
        <p:nvPicPr>
          <p:cNvPr id="11" name="object 3">
            <a:extLst>
              <a:ext uri="{FF2B5EF4-FFF2-40B4-BE49-F238E27FC236}">
                <a16:creationId xmlns:a16="http://schemas.microsoft.com/office/drawing/2014/main" id="{53D4F72D-59A3-6243-7D22-56B38F66B99F}"/>
              </a:ext>
            </a:extLst>
          </p:cNvPr>
          <p:cNvPicPr/>
          <p:nvPr/>
        </p:nvPicPr>
        <p:blipFill>
          <a:blip r:embed="rId6" cstate="print"/>
          <a:stretch>
            <a:fillRect/>
          </a:stretch>
        </p:blipFill>
        <p:spPr>
          <a:xfrm>
            <a:off x="290750" y="204311"/>
            <a:ext cx="1163002" cy="424338"/>
          </a:xfrm>
          <a:prstGeom prst="rect">
            <a:avLst/>
          </a:prstGeom>
        </p:spPr>
      </p:pic>
      <p:sp>
        <p:nvSpPr>
          <p:cNvPr id="2" name="Rectangle 1">
            <a:extLst>
              <a:ext uri="{FF2B5EF4-FFF2-40B4-BE49-F238E27FC236}">
                <a16:creationId xmlns:a16="http://schemas.microsoft.com/office/drawing/2014/main" id="{3A09A281-E9DB-D6A8-8516-E1101DCD321B}"/>
              </a:ext>
            </a:extLst>
          </p:cNvPr>
          <p:cNvSpPr>
            <a:spLocks noChangeArrowheads="1"/>
          </p:cNvSpPr>
          <p:nvPr/>
        </p:nvSpPr>
        <p:spPr bwMode="auto">
          <a:xfrm>
            <a:off x="872251" y="1924629"/>
            <a:ext cx="857654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Authentication Module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Handles user registration and secure login.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Blog Management Module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Manages creating, viewing, updating, and deleting blog posts.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Like/Dislike Module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Allows users to like or dislike blogs with controlled interaction.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Profile Module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Manages user details such as name, email, and username.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Dashboard Module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a central interface for navigation and accessing features.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Management Module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Handles data storage and retrieval using MongoDB.</a:t>
            </a:r>
          </a:p>
        </p:txBody>
      </p:sp>
    </p:spTree>
    <p:extLst>
      <p:ext uri="{BB962C8B-B14F-4D97-AF65-F5344CB8AC3E}">
        <p14:creationId xmlns:p14="http://schemas.microsoft.com/office/powerpoint/2010/main" val="2526457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7A6E-C969-4FC6-1638-B02DC9858D8E}"/>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18CD80CE-9A20-C3F9-675C-6A5559C46A59}"/>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4EE6F78B-EB8B-E507-510F-5E3E95B98B6F}"/>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60BFA710-1140-7847-52D3-8D6778096E5F}"/>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49D1D7BE-6FAB-E379-94E6-040D6A76585E}"/>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2191A9B2-D3E3-35FE-4108-715E3C7C4C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00A15CDC-61F7-A7B4-E469-6B0C1199925B}"/>
              </a:ext>
            </a:extLst>
          </p:cNvPr>
          <p:cNvSpPr txBox="1">
            <a:spLocks noGrp="1"/>
          </p:cNvSpPr>
          <p:nvPr>
            <p:ph type="title"/>
          </p:nvPr>
        </p:nvSpPr>
        <p:spPr>
          <a:xfrm>
            <a:off x="3945254" y="432593"/>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C4C71D08-C2F1-0E7E-1D5D-669DEF4FBD1A}"/>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06B09BF8-939E-6C76-4342-E04259FF568B}"/>
              </a:ext>
            </a:extLst>
          </p:cNvPr>
          <p:cNvSpPr txBox="1"/>
          <p:nvPr/>
        </p:nvSpPr>
        <p:spPr>
          <a:xfrm>
            <a:off x="990600" y="1449777"/>
            <a:ext cx="8763000" cy="1067472"/>
          </a:xfrm>
          <a:prstGeom prst="rect">
            <a:avLst/>
          </a:prstGeom>
          <a:noFill/>
        </p:spPr>
        <p:txBody>
          <a:bodyPr wrap="square">
            <a:spAutoFit/>
          </a:bodyPr>
          <a:lstStyle/>
          <a:p>
            <a:pPr>
              <a:lnSpc>
                <a:spcPct val="115000"/>
              </a:lnSpc>
              <a:spcAft>
                <a:spcPts val="800"/>
              </a:spcAft>
              <a:buNone/>
            </a:pPr>
            <a:r>
              <a:rPr lang="en-IN" sz="1800" b="1" u="sng" kern="100" dirty="0">
                <a:effectLst/>
                <a:latin typeface="Times New Roman" panose="02020603050405020304" pitchFamily="18" charset="0"/>
                <a:ea typeface="Calibri" panose="020F0502020204030204" pitchFamily="34" charset="0"/>
                <a:cs typeface="Gautami" panose="020B0502040204020203" pitchFamily="34" charset="0"/>
              </a:rPr>
              <a:t>Login window: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US" dirty="0">
                <a:latin typeface="Times New Roman" pitchFamily="18" charset="0"/>
                <a:cs typeface="Times New Roman" pitchFamily="18" charset="0"/>
              </a:rPr>
              <a:t>This window allows authorized users (admin and students) to enter their email and password to access the Course Registration System.</a:t>
            </a:r>
          </a:p>
        </p:txBody>
      </p:sp>
      <p:pic>
        <p:nvPicPr>
          <p:cNvPr id="5122" name="Picture 2"/>
          <p:cNvPicPr>
            <a:picLocks noChangeAspect="1" noChangeArrowheads="1"/>
          </p:cNvPicPr>
          <p:nvPr/>
        </p:nvPicPr>
        <p:blipFill>
          <a:blip r:embed="rId7"/>
          <a:srcRect/>
          <a:stretch>
            <a:fillRect/>
          </a:stretch>
        </p:blipFill>
        <p:spPr bwMode="auto">
          <a:xfrm>
            <a:off x="1447800" y="2743200"/>
            <a:ext cx="7010400" cy="4572000"/>
          </a:xfrm>
          <a:prstGeom prst="rect">
            <a:avLst/>
          </a:prstGeom>
          <a:noFill/>
          <a:ln w="9525">
            <a:noFill/>
            <a:miter lim="800000"/>
            <a:headEnd/>
            <a:tailEnd/>
          </a:ln>
          <a:effectLst/>
        </p:spPr>
      </p:pic>
    </p:spTree>
    <p:extLst>
      <p:ext uri="{BB962C8B-B14F-4D97-AF65-F5344CB8AC3E}">
        <p14:creationId xmlns:p14="http://schemas.microsoft.com/office/powerpoint/2010/main" val="2514269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FAADD-4D19-CE1A-A0AE-6EEF35365F00}"/>
            </a:ext>
          </a:extLst>
        </p:cNvPr>
        <p:cNvGrpSpPr/>
        <p:nvPr/>
      </p:nvGrpSpPr>
      <p:grpSpPr>
        <a:xfrm>
          <a:off x="0" y="0"/>
          <a:ext cx="0" cy="0"/>
          <a:chOff x="0" y="0"/>
          <a:chExt cx="0" cy="0"/>
        </a:xfrm>
      </p:grpSpPr>
      <p:grpSp>
        <p:nvGrpSpPr>
          <p:cNvPr id="2" name="object 3">
            <a:extLst>
              <a:ext uri="{FF2B5EF4-FFF2-40B4-BE49-F238E27FC236}">
                <a16:creationId xmlns:a16="http://schemas.microsoft.com/office/drawing/2014/main" id="{D7B9191B-FE96-8A59-9690-2C061E758C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D78732-F9B9-1FDA-D8E5-B64B1742716B}"/>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0F82D761-8FA6-96D2-9CDC-DFD4213896D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678599C3-BD7C-742E-28E2-F7E1A4CB43D8}"/>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F6FA399-08A4-A0BD-F528-C5D21B7052B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F364F5D-D793-1E9D-BAE2-D5AEB2FAA6EF}"/>
              </a:ext>
            </a:extLst>
          </p:cNvPr>
          <p:cNvSpPr txBox="1">
            <a:spLocks noGrp="1"/>
          </p:cNvSpPr>
          <p:nvPr>
            <p:ph type="title"/>
          </p:nvPr>
        </p:nvSpPr>
        <p:spPr>
          <a:xfrm>
            <a:off x="3886200" y="416480"/>
            <a:ext cx="2836546"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System Implementation</a:t>
            </a:r>
          </a:p>
        </p:txBody>
      </p:sp>
      <p:pic>
        <p:nvPicPr>
          <p:cNvPr id="11" name="object 3">
            <a:extLst>
              <a:ext uri="{FF2B5EF4-FFF2-40B4-BE49-F238E27FC236}">
                <a16:creationId xmlns:a16="http://schemas.microsoft.com/office/drawing/2014/main" id="{3FA4B9F1-F58E-6088-7BFB-C923676C0FFD}"/>
              </a:ext>
            </a:extLst>
          </p:cNvPr>
          <p:cNvPicPr/>
          <p:nvPr/>
        </p:nvPicPr>
        <p:blipFill>
          <a:blip r:embed="rId6" cstate="print"/>
          <a:stretch>
            <a:fillRect/>
          </a:stretch>
        </p:blipFill>
        <p:spPr>
          <a:xfrm>
            <a:off x="290750" y="204311"/>
            <a:ext cx="1163002" cy="424338"/>
          </a:xfrm>
          <a:prstGeom prst="rect">
            <a:avLst/>
          </a:prstGeom>
        </p:spPr>
      </p:pic>
      <p:sp>
        <p:nvSpPr>
          <p:cNvPr id="3" name="TextBox 2">
            <a:extLst>
              <a:ext uri="{FF2B5EF4-FFF2-40B4-BE49-F238E27FC236}">
                <a16:creationId xmlns:a16="http://schemas.microsoft.com/office/drawing/2014/main" id="{DFDFF7E8-2D7E-EE44-718C-EFE70C9A2E40}"/>
              </a:ext>
            </a:extLst>
          </p:cNvPr>
          <p:cNvSpPr txBox="1"/>
          <p:nvPr/>
        </p:nvSpPr>
        <p:spPr>
          <a:xfrm>
            <a:off x="990600" y="1449777"/>
            <a:ext cx="8763000" cy="1200329"/>
          </a:xfrm>
          <a:prstGeom prst="rect">
            <a:avLst/>
          </a:prstGeom>
          <a:noFill/>
        </p:spPr>
        <p:txBody>
          <a:bodyPr wrap="square">
            <a:spAutoFit/>
          </a:bodyPr>
          <a:lstStyle/>
          <a:p>
            <a:r>
              <a:rPr lang="en-IN" sz="1800" b="1" u="sng" dirty="0"/>
              <a:t>Profile Window:</a:t>
            </a:r>
            <a:endParaRPr lang="en-IN" sz="1800" dirty="0"/>
          </a:p>
          <a:p>
            <a:r>
              <a:rPr lang="en-IN" sz="1800" b="1" dirty="0"/>
              <a:t> </a:t>
            </a:r>
            <a:endParaRPr lang="en-IN" sz="1800"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This window displays the student’s personal details, registered courses, and payment information.</a:t>
            </a:r>
            <a:endParaRPr lang="en-IN" sz="1800" dirty="0">
              <a:latin typeface="Times New Roman" pitchFamily="18" charset="0"/>
              <a:cs typeface="Times New Roman" pitchFamily="18" charset="0"/>
            </a:endParaRPr>
          </a:p>
        </p:txBody>
      </p:sp>
      <p:pic>
        <p:nvPicPr>
          <p:cNvPr id="12290" name="Picture 2"/>
          <p:cNvPicPr>
            <a:picLocks noChangeAspect="1" noChangeArrowheads="1"/>
          </p:cNvPicPr>
          <p:nvPr/>
        </p:nvPicPr>
        <p:blipFill>
          <a:blip r:embed="rId7"/>
          <a:srcRect/>
          <a:stretch>
            <a:fillRect/>
          </a:stretch>
        </p:blipFill>
        <p:spPr bwMode="auto">
          <a:xfrm>
            <a:off x="1524000" y="2971800"/>
            <a:ext cx="7010400" cy="4495800"/>
          </a:xfrm>
          <a:prstGeom prst="rect">
            <a:avLst/>
          </a:prstGeom>
          <a:noFill/>
          <a:ln w="9525">
            <a:noFill/>
            <a:miter lim="800000"/>
            <a:headEnd/>
            <a:tailEnd/>
          </a:ln>
          <a:effectLst/>
        </p:spPr>
      </p:pic>
    </p:spTree>
    <p:extLst>
      <p:ext uri="{BB962C8B-B14F-4D97-AF65-F5344CB8AC3E}">
        <p14:creationId xmlns:p14="http://schemas.microsoft.com/office/powerpoint/2010/main" val="4049249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6B15-FBBA-88E4-439B-3760D86B920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E93131E-D2BB-EC5C-2A95-924FDF20D02E}"/>
              </a:ext>
            </a:extLst>
          </p:cNvPr>
          <p:cNvSpPr txBox="1"/>
          <p:nvPr/>
        </p:nvSpPr>
        <p:spPr>
          <a:xfrm>
            <a:off x="1066799" y="1390003"/>
            <a:ext cx="7848601" cy="4191981"/>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 Implement image upload feature to make blogs more attractive and informative.</a:t>
            </a:r>
          </a:p>
          <a:p>
            <a:r>
              <a:rPr lang="en-US" sz="2000" dirty="0">
                <a:latin typeface="Times New Roman" panose="02020603050405020304" pitchFamily="18" charset="0"/>
                <a:cs typeface="Times New Roman" panose="02020603050405020304" pitchFamily="18" charset="0"/>
              </a:rPr>
              <a:t>• Introduce user roles (Admin/User) for better content management and control.</a:t>
            </a:r>
          </a:p>
          <a:p>
            <a:r>
              <a:rPr lang="en-US" sz="2000" dirty="0">
                <a:latin typeface="Times New Roman" panose="02020603050405020304" pitchFamily="18" charset="0"/>
                <a:cs typeface="Times New Roman" panose="02020603050405020304" pitchFamily="18" charset="0"/>
              </a:rPr>
              <a:t>• Add advanced search and filter options for easy navigation of blogs.</a:t>
            </a:r>
          </a:p>
          <a:p>
            <a:r>
              <a:rPr lang="en-US" sz="2000" dirty="0">
                <a:latin typeface="Times New Roman" panose="02020603050405020304" pitchFamily="18" charset="0"/>
                <a:cs typeface="Times New Roman" panose="02020603050405020304" pitchFamily="18" charset="0"/>
              </a:rPr>
              <a:t>• Implement pagination to handle large amounts of blog data efficiently.</a:t>
            </a:r>
          </a:p>
          <a:p>
            <a:r>
              <a:rPr lang="en-US" sz="2000" dirty="0">
                <a:latin typeface="Times New Roman" panose="02020603050405020304" pitchFamily="18" charset="0"/>
                <a:cs typeface="Times New Roman" panose="02020603050405020304" pitchFamily="18" charset="0"/>
              </a:rPr>
              <a:t>• Add notification system for likes, comments, and new blog updates.</a:t>
            </a:r>
          </a:p>
          <a:p>
            <a:r>
              <a:rPr lang="en-US" sz="2000" dirty="0">
                <a:latin typeface="Times New Roman" panose="02020603050405020304" pitchFamily="18" charset="0"/>
                <a:cs typeface="Times New Roman" panose="02020603050405020304" pitchFamily="18" charset="0"/>
              </a:rPr>
              <a:t>• Provide dark mode or theme customization for better user experience.</a:t>
            </a:r>
          </a:p>
          <a:p>
            <a:r>
              <a:rPr lang="en-US" sz="2000" dirty="0">
                <a:latin typeface="Times New Roman" panose="02020603050405020304" pitchFamily="18" charset="0"/>
                <a:cs typeface="Times New Roman" panose="02020603050405020304" pitchFamily="18" charset="0"/>
              </a:rPr>
              <a:t>• Enable profile image upload for user personalization.</a:t>
            </a:r>
          </a:p>
          <a:p>
            <a:r>
              <a:rPr lang="en-US" sz="2000" dirty="0">
                <a:latin typeface="Times New Roman" panose="02020603050405020304" pitchFamily="18" charset="0"/>
                <a:cs typeface="Times New Roman" panose="02020603050405020304" pitchFamily="18" charset="0"/>
              </a:rPr>
              <a:t>• Add bookmark or favorites feature to save blogs for later reading.</a:t>
            </a:r>
          </a:p>
          <a:p>
            <a:r>
              <a:rPr lang="en-US" sz="2000" dirty="0">
                <a:latin typeface="Times New Roman" panose="02020603050405020304" pitchFamily="18" charset="0"/>
                <a:cs typeface="Times New Roman" panose="02020603050405020304" pitchFamily="18" charset="0"/>
              </a:rPr>
              <a:t>• Deploy the application on cloud platforms for scalability and real-world usage.</a:t>
            </a:r>
          </a:p>
          <a:p>
            <a:pPr algn="just">
              <a:lnSpc>
                <a:spcPct val="150000"/>
              </a:lnSpc>
            </a:pPr>
            <a:endParaRPr lang="en-IN" sz="2000" dirty="0">
              <a:latin typeface="Times New Roman" pitchFamily="18" charset="0"/>
              <a:cs typeface="Times New Roman" pitchFamily="18" charset="0"/>
            </a:endParaRPr>
          </a:p>
        </p:txBody>
      </p:sp>
      <p:grpSp>
        <p:nvGrpSpPr>
          <p:cNvPr id="7" name="object 3">
            <a:extLst>
              <a:ext uri="{FF2B5EF4-FFF2-40B4-BE49-F238E27FC236}">
                <a16:creationId xmlns:a16="http://schemas.microsoft.com/office/drawing/2014/main" id="{2AA4C980-B3A7-207C-41C1-E5E20AC1774F}"/>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FCE0C84F-6254-D24F-D561-30DE987BE354}"/>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909B96B-5C39-8043-CA2D-5B828EFA757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5015D36-BC2F-3B81-753E-F473E84B785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2E63626-00F9-C9BD-F925-C51513AE50E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4D54D4E-EE1A-E311-1FB3-DF54075DFCDF}"/>
              </a:ext>
            </a:extLst>
          </p:cNvPr>
          <p:cNvSpPr txBox="1">
            <a:spLocks noGrp="1"/>
          </p:cNvSpPr>
          <p:nvPr>
            <p:ph type="title"/>
          </p:nvPr>
        </p:nvSpPr>
        <p:spPr>
          <a:xfrm>
            <a:off x="3649027" y="438046"/>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Future Enhancements</a:t>
            </a:r>
          </a:p>
        </p:txBody>
      </p:sp>
      <p:pic>
        <p:nvPicPr>
          <p:cNvPr id="13" name="object 3">
            <a:extLst>
              <a:ext uri="{FF2B5EF4-FFF2-40B4-BE49-F238E27FC236}">
                <a16:creationId xmlns:a16="http://schemas.microsoft.com/office/drawing/2014/main" id="{A2987431-337A-DB3D-5560-70B732DBEDE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218789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2E41-7E6E-9AB7-4311-D58503EE456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5376381-AD7A-228D-6305-1256490B7F5E}"/>
              </a:ext>
            </a:extLst>
          </p:cNvPr>
          <p:cNvSpPr txBox="1"/>
          <p:nvPr/>
        </p:nvSpPr>
        <p:spPr>
          <a:xfrm>
            <a:off x="304800" y="1034052"/>
            <a:ext cx="9448800" cy="6821804"/>
          </a:xfrm>
          <a:prstGeom prst="rect">
            <a:avLst/>
          </a:prstGeom>
          <a:noFill/>
        </p:spPr>
        <p:txBody>
          <a:bodyPr wrap="square" rtlCol="0">
            <a:spAutoFit/>
          </a:bodyPr>
          <a:lstStyle/>
          <a:p>
            <a:pPr>
              <a:lnSpc>
                <a:spcPct val="150000"/>
              </a:lnSpc>
            </a:pPr>
            <a:r>
              <a:rPr lang="en-IN" sz="2000" dirty="0"/>
              <a:t>The following references were used during the development of the Course Registration System:</a:t>
            </a:r>
          </a:p>
          <a:p>
            <a:pPr marL="714375" lvl="2" indent="-285750">
              <a:lnSpc>
                <a:spcPct val="150000"/>
              </a:lnSpc>
              <a:buFont typeface="Arial" panose="020B0604020202020204" pitchFamily="34" charset="0"/>
              <a:buChar char="•"/>
            </a:pPr>
            <a:r>
              <a:rPr lang="en-IN" b="1" dirty="0"/>
              <a:t>Herbert Schildt</a:t>
            </a:r>
            <a:r>
              <a:rPr lang="en-IN" dirty="0"/>
              <a:t>, </a:t>
            </a:r>
            <a:r>
              <a:rPr lang="en-IN" i="1" dirty="0"/>
              <a:t>Java: The Complete Reference</a:t>
            </a:r>
            <a:r>
              <a:rPr lang="en-IN" dirty="0"/>
              <a:t>, Oracle Press, 11th Edition.</a:t>
            </a:r>
          </a:p>
          <a:p>
            <a:pPr marL="714375" lvl="2" indent="-285750">
              <a:lnSpc>
                <a:spcPct val="150000"/>
              </a:lnSpc>
              <a:buFont typeface="Arial" panose="020B0604020202020204" pitchFamily="34" charset="0"/>
              <a:buChar char="•"/>
            </a:pPr>
            <a:r>
              <a:rPr lang="en-IN" b="1" dirty="0"/>
              <a:t>E. </a:t>
            </a:r>
            <a:r>
              <a:rPr lang="en-IN" b="1" dirty="0" err="1"/>
              <a:t>Balagurusamy</a:t>
            </a:r>
            <a:r>
              <a:rPr lang="en-IN" dirty="0"/>
              <a:t>, </a:t>
            </a:r>
            <a:r>
              <a:rPr lang="en-IN" i="1" dirty="0"/>
              <a:t>Programming with Java</a:t>
            </a:r>
            <a:r>
              <a:rPr lang="en-IN" dirty="0"/>
              <a:t>, McGraw Hill Education.</a:t>
            </a:r>
          </a:p>
          <a:p>
            <a:pPr marL="714375" lvl="2" indent="-285750">
              <a:lnSpc>
                <a:spcPct val="150000"/>
              </a:lnSpc>
              <a:buFont typeface="Arial" panose="020B0604020202020204" pitchFamily="34" charset="0"/>
              <a:buChar char="•"/>
            </a:pPr>
            <a:r>
              <a:rPr lang="en-IN" b="1" dirty="0"/>
              <a:t>Korth, Silberschatz, Sudarshan</a:t>
            </a:r>
            <a:r>
              <a:rPr lang="en-IN" dirty="0"/>
              <a:t>, </a:t>
            </a:r>
            <a:r>
              <a:rPr lang="en-IN" i="1" dirty="0"/>
              <a:t>Database System Concepts</a:t>
            </a:r>
            <a:r>
              <a:rPr lang="en-IN" dirty="0"/>
              <a:t>, McGraw Hill.</a:t>
            </a:r>
          </a:p>
          <a:p>
            <a:pPr marL="714375" lvl="2" indent="-285750">
              <a:lnSpc>
                <a:spcPct val="150000"/>
              </a:lnSpc>
              <a:buFont typeface="Arial" panose="020B0604020202020204" pitchFamily="34" charset="0"/>
              <a:buChar char="•"/>
            </a:pPr>
            <a:r>
              <a:rPr lang="en-IN" b="1" dirty="0"/>
              <a:t>Oracle Documentation</a:t>
            </a:r>
            <a:r>
              <a:rPr lang="en-IN" dirty="0"/>
              <a:t>,</a:t>
            </a:r>
            <a:br>
              <a:rPr lang="en-IN" dirty="0"/>
            </a:br>
            <a:r>
              <a:rPr lang="en-IN" u="sng" dirty="0">
                <a:hlinkClick r:id="rId2"/>
              </a:rPr>
              <a:t>https://docs.oracle.com</a:t>
            </a:r>
            <a:endParaRPr lang="en-IN" dirty="0"/>
          </a:p>
          <a:p>
            <a:pPr marL="714375" lvl="2" indent="-285750">
              <a:lnSpc>
                <a:spcPct val="150000"/>
              </a:lnSpc>
              <a:buFont typeface="Arial" panose="020B0604020202020204" pitchFamily="34" charset="0"/>
              <a:buChar char="•"/>
            </a:pPr>
            <a:r>
              <a:rPr lang="en-IN" b="1" dirty="0"/>
              <a:t>Java Documentation (Oracle)</a:t>
            </a:r>
            <a:r>
              <a:rPr lang="en-IN" dirty="0"/>
              <a:t>,</a:t>
            </a:r>
            <a:br>
              <a:rPr lang="en-IN" dirty="0"/>
            </a:br>
            <a:r>
              <a:rPr lang="en-IN" u="sng" dirty="0">
                <a:hlinkClick r:id="rId3"/>
              </a:rPr>
              <a:t>https://docs.oracle.com/javase</a:t>
            </a:r>
            <a:endParaRPr lang="en-IN" dirty="0"/>
          </a:p>
          <a:p>
            <a:pPr marL="714375" lvl="2" indent="-285750">
              <a:lnSpc>
                <a:spcPct val="150000"/>
              </a:lnSpc>
              <a:buFont typeface="Arial" panose="020B0604020202020204" pitchFamily="34" charset="0"/>
              <a:buChar char="•"/>
            </a:pPr>
            <a:r>
              <a:rPr lang="en-IN" b="1" dirty="0"/>
              <a:t>JDBC Tutorial – </a:t>
            </a:r>
            <a:r>
              <a:rPr lang="en-IN" b="1" dirty="0" err="1"/>
              <a:t>GeeksforGeeks</a:t>
            </a:r>
            <a:r>
              <a:rPr lang="en-IN" dirty="0"/>
              <a:t>,</a:t>
            </a:r>
            <a:br>
              <a:rPr lang="en-IN" dirty="0"/>
            </a:br>
            <a:r>
              <a:rPr lang="en-IN" dirty="0"/>
              <a:t>https://www.geeksforgeeks.org/jdbc/</a:t>
            </a:r>
          </a:p>
          <a:p>
            <a:pPr marL="714375" lvl="2" indent="-285750">
              <a:lnSpc>
                <a:spcPct val="150000"/>
              </a:lnSpc>
              <a:buFont typeface="Arial" panose="020B0604020202020204" pitchFamily="34" charset="0"/>
              <a:buChar char="•"/>
            </a:pPr>
            <a:r>
              <a:rPr lang="en-IN" b="1" dirty="0"/>
              <a:t>Java Swing Tutorial – </a:t>
            </a:r>
            <a:r>
              <a:rPr lang="en-IN" b="1" dirty="0" err="1"/>
              <a:t>TutorialsPoint</a:t>
            </a:r>
            <a:r>
              <a:rPr lang="en-IN" dirty="0"/>
              <a:t>,</a:t>
            </a:r>
            <a:br>
              <a:rPr lang="en-IN" dirty="0"/>
            </a:br>
            <a:r>
              <a:rPr lang="en-IN" dirty="0"/>
              <a:t>https://www.tutorialspoint.com/java_swing</a:t>
            </a:r>
          </a:p>
          <a:p>
            <a:pPr marL="714375" lvl="2" indent="-285750">
              <a:lnSpc>
                <a:spcPct val="150000"/>
              </a:lnSpc>
              <a:buFont typeface="Arial" panose="020B0604020202020204" pitchFamily="34" charset="0"/>
              <a:buChar char="•"/>
            </a:pPr>
            <a:r>
              <a:rPr lang="en-IN" b="1" dirty="0"/>
              <a:t>W3Schools Java Tutorial</a:t>
            </a:r>
            <a:r>
              <a:rPr lang="en-IN" dirty="0"/>
              <a:t>,</a:t>
            </a:r>
            <a:br>
              <a:rPr lang="en-IN" dirty="0"/>
            </a:br>
            <a:r>
              <a:rPr lang="en-IN" u="sng" dirty="0">
                <a:hlinkClick r:id="rId4"/>
              </a:rPr>
              <a:t>https://www.w3schools.com/java/</a:t>
            </a:r>
            <a:endParaRPr lang="en-IN" dirty="0"/>
          </a:p>
          <a:p>
            <a:pPr algn="just">
              <a:lnSpc>
                <a:spcPct val="150000"/>
              </a:lnSpc>
            </a:pPr>
            <a:endParaRPr lang="en-IN" sz="2000" dirty="0"/>
          </a:p>
        </p:txBody>
      </p:sp>
      <p:grpSp>
        <p:nvGrpSpPr>
          <p:cNvPr id="7" name="object 3">
            <a:extLst>
              <a:ext uri="{FF2B5EF4-FFF2-40B4-BE49-F238E27FC236}">
                <a16:creationId xmlns:a16="http://schemas.microsoft.com/office/drawing/2014/main" id="{32D71BC4-812B-11BE-6A6C-1CA5A91B779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6897A887-118D-142E-FC3E-D6BE5C1E9795}"/>
                </a:ext>
              </a:extLst>
            </p:cNvPr>
            <p:cNvPicPr/>
            <p:nvPr/>
          </p:nvPicPr>
          <p:blipFill>
            <a:blip r:embed="rId5"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69A73B6-BAAC-6763-2263-E88C0E65C7C3}"/>
                </a:ext>
              </a:extLst>
            </p:cNvPr>
            <p:cNvPicPr/>
            <p:nvPr/>
          </p:nvPicPr>
          <p:blipFill>
            <a:blip r:embed="rId6"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12E086F-BA20-7EBA-DFAA-D7884D2F86C0}"/>
                </a:ext>
              </a:extLst>
            </p:cNvPr>
            <p:cNvPicPr/>
            <p:nvPr/>
          </p:nvPicPr>
          <p:blipFill>
            <a:blip r:embed="rId7"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D22B9F6-01CA-54BB-97B5-0180CEF24C6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459A9DA-9776-0281-AD94-A452E7257896}"/>
              </a:ext>
            </a:extLst>
          </p:cNvPr>
          <p:cNvSpPr txBox="1">
            <a:spLocks noGrp="1"/>
          </p:cNvSpPr>
          <p:nvPr>
            <p:ph type="title"/>
          </p:nvPr>
        </p:nvSpPr>
        <p:spPr>
          <a:xfrm>
            <a:off x="4194015" y="429568"/>
            <a:ext cx="27603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References</a:t>
            </a:r>
          </a:p>
        </p:txBody>
      </p:sp>
      <p:pic>
        <p:nvPicPr>
          <p:cNvPr id="13" name="object 3">
            <a:extLst>
              <a:ext uri="{FF2B5EF4-FFF2-40B4-BE49-F238E27FC236}">
                <a16:creationId xmlns:a16="http://schemas.microsoft.com/office/drawing/2014/main" id="{6E0266AA-A7A6-E24C-77B4-437EA2766279}"/>
              </a:ext>
            </a:extLst>
          </p:cNvPr>
          <p:cNvPicPr/>
          <p:nvPr/>
        </p:nvPicPr>
        <p:blipFill>
          <a:blip r:embed="rId8"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182020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
        <p:nvSpPr>
          <p:cNvPr id="2" name="Rectangle 1">
            <a:extLst>
              <a:ext uri="{FF2B5EF4-FFF2-40B4-BE49-F238E27FC236}">
                <a16:creationId xmlns:a16="http://schemas.microsoft.com/office/drawing/2014/main" id="{890CFA66-412E-0DAA-97D5-67BD05F96EA3}"/>
              </a:ext>
            </a:extLst>
          </p:cNvPr>
          <p:cNvSpPr>
            <a:spLocks noChangeArrowheads="1"/>
          </p:cNvSpPr>
          <p:nvPr/>
        </p:nvSpPr>
        <p:spPr bwMode="auto">
          <a:xfrm>
            <a:off x="838200" y="2275880"/>
            <a:ext cx="8534400"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MERN Blog Application successfully demonstrates the development of a full-stack web application using MongoDB, Express.js, React.js, and Node.js. The system allows users to create, manage, and interact with blog content efficiently through features such as authentication, CRUD operations, and user engagement functionalities.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highlights the integration of frontend and backend technologies, ensuring smooth performance and a user-friendly interface. It also provides practical knowledge of modern web development concepts and real-world application design.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application serves as a strong foundation for building scalable and feature-rich web platforms in the future.</a:t>
            </a:r>
          </a:p>
        </p:txBody>
      </p:sp>
    </p:spTree>
    <p:extLst>
      <p:ext uri="{BB962C8B-B14F-4D97-AF65-F5344CB8AC3E}">
        <p14:creationId xmlns:p14="http://schemas.microsoft.com/office/powerpoint/2010/main" val="26941927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2832</TotalTime>
  <Words>1307</Words>
  <Application>Microsoft Office PowerPoint</Application>
  <PresentationFormat>Custom</PresentationFormat>
  <Paragraphs>112</Paragraphs>
  <Slides>16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Cambria</vt:lpstr>
      <vt:lpstr>Palatino Linotype</vt:lpstr>
      <vt:lpstr>Times New Roman</vt:lpstr>
      <vt:lpstr>Office Theme</vt:lpstr>
      <vt:lpstr>Java Programming Cornerstone Project Final Review</vt:lpstr>
      <vt:lpstr>PowerPoint Presentation</vt:lpstr>
      <vt:lpstr>ABSTRACT</vt:lpstr>
      <vt:lpstr>PowerPoint Presentation</vt:lpstr>
      <vt:lpstr>PowerPoint Presentation</vt:lpstr>
      <vt:lpstr>PowerPoint Presentation</vt:lpstr>
      <vt:lpstr>Database Design</vt:lpstr>
      <vt:lpstr>Database Design</vt:lpstr>
      <vt:lpstr>Database Design</vt:lpstr>
      <vt:lpstr>SYSTEM DESIGN</vt:lpstr>
      <vt:lpstr>System Implementation</vt:lpstr>
      <vt:lpstr>System Implementation</vt:lpstr>
      <vt:lpstr>Future Enhancements</vt:lpstr>
      <vt:lpstr>References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Meenakshi Moyilla</cp:lastModifiedBy>
  <cp:revision>73</cp:revision>
  <cp:lastPrinted>2025-10-14T18:21:49Z</cp:lastPrinted>
  <dcterms:created xsi:type="dcterms:W3CDTF">2025-10-10T08:28:06Z</dcterms:created>
  <dcterms:modified xsi:type="dcterms:W3CDTF">2026-04-04T10:05:00Z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